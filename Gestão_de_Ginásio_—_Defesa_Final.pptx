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738" y="0"/>
            <a:ext cx="3236119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428750"/>
            <a:ext cx="5143500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440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Gestão de</a:t>
            </a:r>
            <a:r>
              <a:rPr lang="en-US" sz="440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
</a:t>
            </a:r>
            <a:r>
              <a:rPr lang="en-US" sz="440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Ginásio.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457200" y="2857500"/>
            <a:ext cx="42862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3" kern="0" dirty="0">
                <a:solidFill>
                  <a:srgbClr val="EE6C5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PROJETO E DEFESA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4286250"/>
            <a:ext cx="4286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Desenvolvimento de um sistema informático para</a:t>
            </a:r>
            <a:r>
              <a:rPr lang="en-US" sz="9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
</a:t>
            </a:r>
            <a:r>
              <a:rPr lang="en-US" sz="9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controlo de membros, mensalidades e pagamentos.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2857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02 / PERGUNTA DE PESQUISA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857250"/>
            <a:ext cx="142875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4000"/>
              </a:lnSpc>
              <a:buNone/>
            </a:pPr>
            <a:r>
              <a:rPr lang="en-US" sz="8300" b="1" spc="-6" kern="0" dirty="0">
                <a:solidFill>
                  <a:srgbClr val="EE6C5B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“</a:t>
            </a:r>
            <a:endParaRPr lang="en-US" sz="8300" dirty="0"/>
          </a:p>
        </p:txBody>
      </p:sp>
      <p:sp>
        <p:nvSpPr>
          <p:cNvPr id="5" name="Text 2"/>
          <p:cNvSpPr/>
          <p:nvPr/>
        </p:nvSpPr>
        <p:spPr>
          <a:xfrm>
            <a:off x="457200" y="1900238"/>
            <a:ext cx="7143750" cy="2400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300" b="1" spc="-1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Como pode um </a:t>
            </a:r>
            <a:r>
              <a:rPr lang="en-US" sz="3300" b="1" spc="-1" kern="0" dirty="0">
                <a:solidFill>
                  <a:srgbClr val="EE6C5B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sistema </a:t>
            </a:r>
            <a:r>
              <a:rPr lang="en-US" sz="3300" b="1" spc="-1" kern="0" dirty="0">
                <a:solidFill>
                  <a:srgbClr val="EE6C5B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informático</a:t>
            </a:r>
            <a:r>
              <a:rPr lang="en-US" sz="3300" b="1" spc="-1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
</a:t>
            </a:r>
            <a:r>
              <a:rPr lang="en-US" sz="3300" b="1" spc="-1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contribuir para melhorar a </a:t>
            </a:r>
            <a:r>
              <a:rPr lang="en-US" sz="3300" b="1" spc="-1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organização</a:t>
            </a:r>
            <a:r>
              <a:rPr lang="en-US" sz="3300" b="1" spc="-1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
</a:t>
            </a:r>
            <a:r>
              <a:rPr lang="en-US" sz="3300" b="1" spc="-1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e o controlo de um ginásio?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457200" y="4493419"/>
            <a:ext cx="4286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pergunta que orientou este trabalho — verbatim do ficheiro original.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143750" y="4664869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02 / 12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2857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03 / O PROBLEMA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1143000"/>
            <a:ext cx="5236369" cy="14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550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Três</a:t>
            </a:r>
            <a:r>
              <a:rPr lang="en-US" sz="550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
</a:t>
            </a:r>
            <a:r>
              <a:rPr lang="en-US" sz="550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sintomas.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457200" y="3457575"/>
            <a:ext cx="3000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EE6C5B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71538" y="3386138"/>
            <a:ext cx="1950244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Registos dispersos.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993356"/>
            <a:ext cx="3000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EE6C5B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71538" y="3921919"/>
            <a:ext cx="2789634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Mensalidades sem controlo.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536281"/>
            <a:ext cx="3000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EE6C5B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71538" y="4464844"/>
            <a:ext cx="2693194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Pagamentos sem histórico.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0" y="571500"/>
            <a:ext cx="2857500" cy="3614738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369" y="457200"/>
            <a:ext cx="7144" cy="3786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43750" y="4664869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03 / 12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0" y="1428750"/>
            <a:ext cx="9144000" cy="3714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7200"/>
            <a:ext cx="2857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04 / ESTUDO COMPARATIVO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457200" y="950119"/>
            <a:ext cx="7143750" cy="14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550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Três</a:t>
            </a:r>
            <a:r>
              <a:rPr lang="en-US" sz="550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
</a:t>
            </a:r>
            <a:r>
              <a:rPr lang="en-US" sz="550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caminhos.</a:t>
            </a:r>
            <a:endParaRPr lang="en-US" sz="5500" dirty="0"/>
          </a:p>
        </p:txBody>
      </p:sp>
      <p:sp>
        <p:nvSpPr>
          <p:cNvPr id="6" name="Shape 2"/>
          <p:cNvSpPr/>
          <p:nvPr/>
        </p:nvSpPr>
        <p:spPr>
          <a:xfrm>
            <a:off x="457200" y="4186238"/>
            <a:ext cx="2667019" cy="542925"/>
          </a:xfrm>
          <a:prstGeom prst="rect">
            <a:avLst/>
          </a:prstGeom>
          <a:solidFill>
            <a:srgbClr val="0D2330">
              <a:alpha val="78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4186238"/>
            <a:ext cx="2667019" cy="7144"/>
          </a:xfrm>
          <a:prstGeom prst="rect">
            <a:avLst/>
          </a:prstGeom>
          <a:solidFill>
            <a:srgbClr val="EE6C5B"/>
          </a:solidFill>
          <a:ln/>
        </p:spPr>
      </p:sp>
      <p:sp>
        <p:nvSpPr>
          <p:cNvPr id="8" name="Text 4"/>
          <p:cNvSpPr/>
          <p:nvPr/>
        </p:nvSpPr>
        <p:spPr>
          <a:xfrm>
            <a:off x="585788" y="4300538"/>
            <a:ext cx="240984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EE6C5B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01 · MANUAL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585788" y="4446984"/>
            <a:ext cx="2409844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Papel, fichas e livros.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238519" y="4186238"/>
            <a:ext cx="2667019" cy="542925"/>
          </a:xfrm>
          <a:prstGeom prst="rect">
            <a:avLst/>
          </a:prstGeom>
          <a:solidFill>
            <a:srgbClr val="0D2330">
              <a:alpha val="78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3238519" y="4186238"/>
            <a:ext cx="2667019" cy="7144"/>
          </a:xfrm>
          <a:prstGeom prst="rect">
            <a:avLst/>
          </a:prstGeom>
          <a:solidFill>
            <a:srgbClr val="C9C2B2"/>
          </a:solidFill>
          <a:ln/>
        </p:spPr>
      </p:sp>
      <p:sp>
        <p:nvSpPr>
          <p:cNvPr id="12" name="Text 8"/>
          <p:cNvSpPr/>
          <p:nvPr/>
        </p:nvSpPr>
        <p:spPr>
          <a:xfrm>
            <a:off x="3367106" y="4300538"/>
            <a:ext cx="240984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C9C2B2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02 · FOLHAS DE CÁLCULO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3367106" y="4446984"/>
            <a:ext cx="2409844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Tabelas digitais.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019837" y="4186238"/>
            <a:ext cx="2667019" cy="542925"/>
          </a:xfrm>
          <a:prstGeom prst="rect">
            <a:avLst/>
          </a:prstGeom>
          <a:solidFill>
            <a:srgbClr val="0D2330">
              <a:alpha val="7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019837" y="4186238"/>
            <a:ext cx="2667019" cy="7144"/>
          </a:xfrm>
          <a:prstGeom prst="rect">
            <a:avLst/>
          </a:prstGeom>
          <a:solidFill>
            <a:srgbClr val="F2A199"/>
          </a:solidFill>
          <a:ln/>
        </p:spPr>
      </p:sp>
      <p:sp>
        <p:nvSpPr>
          <p:cNvPr id="16" name="Text 12"/>
          <p:cNvSpPr/>
          <p:nvPr/>
        </p:nvSpPr>
        <p:spPr>
          <a:xfrm>
            <a:off x="6148425" y="4300538"/>
            <a:ext cx="240984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2A199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03 · INFORMATIZADO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6148425" y="4446984"/>
            <a:ext cx="2409844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Sistema, base de dados.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143750" y="285750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04 / 12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2857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05 / A DECISÃO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1328738"/>
            <a:ext cx="7143750" cy="1533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58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Caminhamos</a:t>
            </a:r>
            <a:r>
              <a:rPr lang="en-US" sz="58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
</a:t>
            </a:r>
            <a:r>
              <a:rPr lang="en-US" sz="58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para o </a:t>
            </a:r>
            <a:r>
              <a:rPr lang="en-US" sz="5850" b="1" spc="-2" kern="0" dirty="0">
                <a:solidFill>
                  <a:srgbClr val="EE6C5B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sistema.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457200" y="3714750"/>
            <a:ext cx="5236369" cy="4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1EC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Centralizar dados, aplicar regras,</a:t>
            </a:r>
            <a:r>
              <a:rPr lang="en-US" sz="1100" dirty="0">
                <a:solidFill>
                  <a:srgbClr val="F1EC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
</a:t>
            </a:r>
            <a:r>
              <a:rPr lang="en-US" sz="1100" dirty="0">
                <a:solidFill>
                  <a:srgbClr val="F1EC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ganhar tempo. </a:t>
            </a:r>
            <a:r>
              <a:rPr lang="en-US" sz="1100" dirty="0">
                <a:solidFill>
                  <a:srgbClr val="F2A1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Uma única fonte de verdade</a:t>
            </a:r>
            <a:r>
              <a:rPr lang="en-US" sz="1100" dirty="0">
                <a:solidFill>
                  <a:srgbClr val="F1EC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para o ginásio.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43750" y="4664869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05 / 12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2857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06 / FUNCIONALIDADES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950119"/>
            <a:ext cx="5143500" cy="977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37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Cinco coisas</a:t>
            </a:r>
            <a:r>
              <a:rPr lang="en-US" sz="37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
</a:t>
            </a:r>
            <a:r>
              <a:rPr lang="en-US" sz="37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que o sistema faz.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57213" y="2786063"/>
            <a:ext cx="14525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E6C5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01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557213" y="2946797"/>
            <a:ext cx="14525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Cadastro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302632" y="2786063"/>
            <a:ext cx="145258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9C2B2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2302632" y="2946797"/>
            <a:ext cx="145258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Pesquisa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048106" y="2786063"/>
            <a:ext cx="14525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9C2B2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048106" y="2946797"/>
            <a:ext cx="14525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Mensalidades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7213" y="3464719"/>
            <a:ext cx="14525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9C2B2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04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57213" y="3625453"/>
            <a:ext cx="14525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Pagamentos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302632" y="3464719"/>
            <a:ext cx="145258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9C2B2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05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302632" y="3625453"/>
            <a:ext cx="145258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Relatórios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048106" y="3464719"/>
            <a:ext cx="14525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F8A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↳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048106" y="3625453"/>
            <a:ext cx="14525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 de dados única.</a:t>
            </a:r>
            <a:endParaRPr lang="en-US" sz="6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457200"/>
            <a:ext cx="2950369" cy="3900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43750" y="4664869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06 / 12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2857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07 / INTEGRAÇÃO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857250"/>
            <a:ext cx="6186488" cy="1167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44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Como tudo</a:t>
            </a:r>
            <a:r>
              <a:rPr lang="en-US" sz="44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
</a:t>
            </a:r>
            <a:r>
              <a:rPr lang="en-US" sz="44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se </a:t>
            </a:r>
            <a:r>
              <a:rPr lang="en-US" sz="4450" b="1" spc="-2" kern="0" dirty="0">
                <a:solidFill>
                  <a:srgbClr val="EE6C5B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conecta.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664369"/>
            <a:ext cx="3236119" cy="32361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29250" y="4000500"/>
            <a:ext cx="103104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E6C5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PASSO 01</a:t>
            </a:r>
            <a:endParaRPr lang="en-US" sz="500" dirty="0"/>
          </a:p>
        </p:txBody>
      </p:sp>
      <p:sp>
        <p:nvSpPr>
          <p:cNvPr id="7" name="Text 3"/>
          <p:cNvSpPr/>
          <p:nvPr/>
        </p:nvSpPr>
        <p:spPr>
          <a:xfrm>
            <a:off x="5429250" y="4096941"/>
            <a:ext cx="103104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Membros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531732" y="4000500"/>
            <a:ext cx="103110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E6C5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PASSO 02</a:t>
            </a:r>
            <a:endParaRPr lang="en-US" sz="500" dirty="0"/>
          </a:p>
        </p:txBody>
      </p:sp>
      <p:sp>
        <p:nvSpPr>
          <p:cNvPr id="9" name="Text 5"/>
          <p:cNvSpPr/>
          <p:nvPr/>
        </p:nvSpPr>
        <p:spPr>
          <a:xfrm>
            <a:off x="6531732" y="4096941"/>
            <a:ext cx="10311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Prazos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634269" y="4000500"/>
            <a:ext cx="103104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E6C5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PASSO 03</a:t>
            </a:r>
            <a:endParaRPr lang="en-US" sz="500" dirty="0"/>
          </a:p>
        </p:txBody>
      </p:sp>
      <p:sp>
        <p:nvSpPr>
          <p:cNvPr id="11" name="Text 7"/>
          <p:cNvSpPr/>
          <p:nvPr/>
        </p:nvSpPr>
        <p:spPr>
          <a:xfrm>
            <a:off x="7634269" y="4096941"/>
            <a:ext cx="103104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Pagamentos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457200" y="2857500"/>
            <a:ext cx="466486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interface envia o pedido.</a:t>
            </a:r>
            <a:r>
              <a:rPr lang="en-US" sz="10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
</a:t>
            </a:r>
            <a:r>
              <a:rPr lang="en-US" sz="10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servidor processa.</a:t>
            </a:r>
            <a:r>
              <a:rPr lang="en-US" sz="10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
</a:t>
            </a:r>
            <a:r>
              <a:rPr lang="en-US" sz="10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base de dados responde.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4286250"/>
            <a:ext cx="466486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F8A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HTML · CSS · JS (visual) / Flask (lógica) / SQLite (dados).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7143750" y="4664869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07 / 12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4750"/>
            <a:ext cx="9144000" cy="14287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457200"/>
            <a:ext cx="2857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08 / TECNOLOGIAS</a:t>
            </a:r>
            <a:endParaRPr lang="en-US" sz="650" dirty="0"/>
          </a:p>
        </p:txBody>
      </p:sp>
      <p:sp>
        <p:nvSpPr>
          <p:cNvPr id="7" name="Text 1"/>
          <p:cNvSpPr/>
          <p:nvPr/>
        </p:nvSpPr>
        <p:spPr>
          <a:xfrm>
            <a:off x="457200" y="807244"/>
            <a:ext cx="7143750" cy="1167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44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Seis peças.</a:t>
            </a:r>
            <a:r>
              <a:rPr lang="en-US" sz="44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
</a:t>
            </a:r>
            <a:r>
              <a:rPr lang="en-US" sz="44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Uma aplicação.</a:t>
            </a:r>
            <a:endParaRPr lang="en-US" sz="4450" dirty="0"/>
          </a:p>
        </p:txBody>
      </p:sp>
      <p:sp>
        <p:nvSpPr>
          <p:cNvPr id="8" name="Shape 2"/>
          <p:cNvSpPr/>
          <p:nvPr/>
        </p:nvSpPr>
        <p:spPr>
          <a:xfrm>
            <a:off x="457200" y="2471738"/>
            <a:ext cx="2686050" cy="589359"/>
          </a:xfrm>
          <a:prstGeom prst="rect">
            <a:avLst/>
          </a:prstGeom>
          <a:solidFill>
            <a:srgbClr val="0D2330">
              <a:alpha val="78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457200" y="2471738"/>
            <a:ext cx="2686050" cy="7144"/>
          </a:xfrm>
          <a:prstGeom prst="rect">
            <a:avLst/>
          </a:prstGeom>
          <a:solidFill>
            <a:srgbClr val="C9C2B2"/>
          </a:solidFill>
          <a:ln/>
        </p:spPr>
      </p:sp>
      <p:sp>
        <p:nvSpPr>
          <p:cNvPr id="10" name="Text 4"/>
          <p:cNvSpPr/>
          <p:nvPr/>
        </p:nvSpPr>
        <p:spPr>
          <a:xfrm>
            <a:off x="571500" y="2600325"/>
            <a:ext cx="245745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HTML</a:t>
            </a:r>
            <a:endParaRPr lang="en-US" sz="1800" dirty="0"/>
          </a:p>
        </p:txBody>
      </p:sp>
      <p:sp>
        <p:nvSpPr>
          <p:cNvPr id="11" name="Shape 5"/>
          <p:cNvSpPr/>
          <p:nvPr/>
        </p:nvSpPr>
        <p:spPr>
          <a:xfrm>
            <a:off x="3228975" y="2471738"/>
            <a:ext cx="2686050" cy="589359"/>
          </a:xfrm>
          <a:prstGeom prst="rect">
            <a:avLst/>
          </a:prstGeom>
          <a:solidFill>
            <a:srgbClr val="0D2330">
              <a:alpha val="78000"/>
            </a:srgbClr>
          </a:solidFill>
          <a:ln/>
        </p:spPr>
      </p:sp>
      <p:sp>
        <p:nvSpPr>
          <p:cNvPr id="12" name="Shape 6"/>
          <p:cNvSpPr/>
          <p:nvPr/>
        </p:nvSpPr>
        <p:spPr>
          <a:xfrm>
            <a:off x="3228975" y="2471738"/>
            <a:ext cx="2686050" cy="7144"/>
          </a:xfrm>
          <a:prstGeom prst="rect">
            <a:avLst/>
          </a:prstGeom>
          <a:solidFill>
            <a:srgbClr val="C9C2B2"/>
          </a:solidFill>
          <a:ln/>
        </p:spPr>
      </p:sp>
      <p:sp>
        <p:nvSpPr>
          <p:cNvPr id="13" name="Text 7"/>
          <p:cNvSpPr/>
          <p:nvPr/>
        </p:nvSpPr>
        <p:spPr>
          <a:xfrm>
            <a:off x="3343275" y="2600325"/>
            <a:ext cx="245745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CSS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6000750" y="2471738"/>
            <a:ext cx="2686050" cy="589359"/>
          </a:xfrm>
          <a:prstGeom prst="rect">
            <a:avLst/>
          </a:prstGeom>
          <a:solidFill>
            <a:srgbClr val="0D2330">
              <a:alpha val="78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6000750" y="2471738"/>
            <a:ext cx="2686050" cy="7144"/>
          </a:xfrm>
          <a:prstGeom prst="rect">
            <a:avLst/>
          </a:prstGeom>
          <a:solidFill>
            <a:srgbClr val="C9C2B2"/>
          </a:solidFill>
          <a:ln/>
        </p:spPr>
      </p:sp>
      <p:sp>
        <p:nvSpPr>
          <p:cNvPr id="16" name="Text 10"/>
          <p:cNvSpPr/>
          <p:nvPr/>
        </p:nvSpPr>
        <p:spPr>
          <a:xfrm>
            <a:off x="6115050" y="2600325"/>
            <a:ext cx="245745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JS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457200" y="3146822"/>
            <a:ext cx="2686050" cy="589359"/>
          </a:xfrm>
          <a:prstGeom prst="rect">
            <a:avLst/>
          </a:prstGeom>
          <a:solidFill>
            <a:srgbClr val="0D2330">
              <a:alpha val="85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457200" y="3146822"/>
            <a:ext cx="2686050" cy="7144"/>
          </a:xfrm>
          <a:prstGeom prst="rect">
            <a:avLst/>
          </a:prstGeom>
          <a:solidFill>
            <a:srgbClr val="EE6C5B"/>
          </a:solidFill>
          <a:ln/>
        </p:spPr>
      </p:sp>
      <p:sp>
        <p:nvSpPr>
          <p:cNvPr id="19" name="Text 13"/>
          <p:cNvSpPr/>
          <p:nvPr/>
        </p:nvSpPr>
        <p:spPr>
          <a:xfrm>
            <a:off x="571500" y="3275409"/>
            <a:ext cx="245745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Python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3228975" y="3146822"/>
            <a:ext cx="2686050" cy="589359"/>
          </a:xfrm>
          <a:prstGeom prst="rect">
            <a:avLst/>
          </a:prstGeom>
          <a:solidFill>
            <a:srgbClr val="0D2330">
              <a:alpha val="78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3228975" y="3146822"/>
            <a:ext cx="2686050" cy="7144"/>
          </a:xfrm>
          <a:prstGeom prst="rect">
            <a:avLst/>
          </a:prstGeom>
          <a:solidFill>
            <a:srgbClr val="C9C2B2"/>
          </a:solidFill>
          <a:ln/>
        </p:spPr>
      </p:sp>
      <p:sp>
        <p:nvSpPr>
          <p:cNvPr id="22" name="Text 16"/>
          <p:cNvSpPr/>
          <p:nvPr/>
        </p:nvSpPr>
        <p:spPr>
          <a:xfrm>
            <a:off x="3343275" y="3275409"/>
            <a:ext cx="245745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Flask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6000750" y="3146822"/>
            <a:ext cx="2686050" cy="589359"/>
          </a:xfrm>
          <a:prstGeom prst="rect">
            <a:avLst/>
          </a:prstGeom>
          <a:solidFill>
            <a:srgbClr val="0D2330">
              <a:alpha val="85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6000750" y="3146822"/>
            <a:ext cx="2686050" cy="7144"/>
          </a:xfrm>
          <a:prstGeom prst="rect">
            <a:avLst/>
          </a:prstGeom>
          <a:solidFill>
            <a:srgbClr val="EE6C5B"/>
          </a:solidFill>
          <a:ln/>
        </p:spPr>
      </p:sp>
      <p:sp>
        <p:nvSpPr>
          <p:cNvPr id="25" name="Text 19"/>
          <p:cNvSpPr/>
          <p:nvPr/>
        </p:nvSpPr>
        <p:spPr>
          <a:xfrm>
            <a:off x="6115050" y="3268266"/>
            <a:ext cx="245745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SQLite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143750" y="285750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08 / 12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2857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09 / HONESTIDADE TÉCNICA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950119"/>
            <a:ext cx="6186488" cy="1194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45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O que protegemos.</a:t>
            </a:r>
            <a:r>
              <a:rPr lang="en-US" sz="455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
</a:t>
            </a:r>
            <a:r>
              <a:rPr lang="en-US" sz="4550" b="1" spc="-2" kern="0" dirty="0">
                <a:solidFill>
                  <a:srgbClr val="C9C2B2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O que não.</a:t>
            </a:r>
            <a:endParaRPr lang="en-US" sz="4550" dirty="0"/>
          </a:p>
        </p:txBody>
      </p:sp>
      <p:sp>
        <p:nvSpPr>
          <p:cNvPr id="5" name="Text 2"/>
          <p:cNvSpPr/>
          <p:nvPr/>
        </p:nvSpPr>
        <p:spPr>
          <a:xfrm>
            <a:off x="457200" y="3143250"/>
            <a:ext cx="395049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E6C5B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CUIDAMOS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57200" y="3375422"/>
            <a:ext cx="3950494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1EC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Validação de campos</a:t>
            </a:r>
            <a:r>
              <a:rPr lang="en-US" sz="850" dirty="0">
                <a:solidFill>
                  <a:srgbClr val="F1EC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
</a:t>
            </a:r>
            <a:r>
              <a:rPr lang="en-US" sz="850" dirty="0">
                <a:solidFill>
                  <a:srgbClr val="F1EC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Consultas parametrizadas (SQLi)</a:t>
            </a:r>
            <a:r>
              <a:rPr lang="en-US" sz="850" dirty="0">
                <a:solidFill>
                  <a:srgbClr val="F1EC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
</a:t>
            </a:r>
            <a:r>
              <a:rPr lang="en-US" sz="850" dirty="0">
                <a:solidFill>
                  <a:srgbClr val="F1EC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Cópia de segurança prevista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714875" y="3143250"/>
            <a:ext cx="395049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8A95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NÃO PRETENDEMOS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4714875" y="3375422"/>
            <a:ext cx="3950494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 Biometria ou cartões</a:t>
            </a:r>
            <a:r>
              <a:rPr lang="en-US" sz="8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
</a:t>
            </a:r>
            <a:r>
              <a:rPr lang="en-US" sz="8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 Pagamentos eletrónicos reais</a:t>
            </a:r>
            <a:r>
              <a:rPr lang="en-US" sz="8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
</a:t>
            </a:r>
            <a:r>
              <a:rPr lang="en-US" sz="8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 Gestão multi-instalações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143750" y="4664869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09 / 12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2857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10 / TESTES E VALIDAÇÃO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950119"/>
            <a:ext cx="7143750" cy="71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550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Três </a:t>
            </a:r>
            <a:r>
              <a:rPr lang="en-US" sz="5500" b="1" spc="-2" kern="0" dirty="0">
                <a:solidFill>
                  <a:srgbClr val="EE6C5B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cenários.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52363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Testado com dados fictícios. Verificámos:</a:t>
            </a:r>
            <a:r>
              <a:rPr lang="en-US" sz="10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
</a:t>
            </a:r>
            <a:r>
              <a:rPr lang="en-US" sz="10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entra, o que responde, o que falha.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3143250"/>
            <a:ext cx="2666963" cy="796528"/>
          </a:xfrm>
          <a:prstGeom prst="rect">
            <a:avLst/>
          </a:prstGeom>
          <a:solidFill>
            <a:srgbClr val="143142">
              <a:alpha val="5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85788" y="3314700"/>
            <a:ext cx="2409788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Cadastro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85788" y="3639741"/>
            <a:ext cx="24097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Rejeitar campos vazios.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3238463" y="3143250"/>
            <a:ext cx="2667019" cy="796528"/>
          </a:xfrm>
          <a:prstGeom prst="rect">
            <a:avLst/>
          </a:prstGeom>
          <a:solidFill>
            <a:srgbClr val="143142">
              <a:alpha val="5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367050" y="3314700"/>
            <a:ext cx="2409844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Pesquisa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367050" y="3639741"/>
            <a:ext cx="240984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Encontrar e atualizar dados.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6019781" y="3143250"/>
            <a:ext cx="2667019" cy="796528"/>
          </a:xfrm>
          <a:prstGeom prst="rect">
            <a:avLst/>
          </a:prstGeom>
          <a:solidFill>
            <a:srgbClr val="143142">
              <a:alpha val="5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148369" y="3314700"/>
            <a:ext cx="2409844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Prazos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148369" y="3639741"/>
            <a:ext cx="240984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Válido vs Expirado.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7143750" y="4664869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10 / 12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2857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11 / O QUE FICA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1143000"/>
            <a:ext cx="8229600" cy="14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550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Uma única</a:t>
            </a:r>
            <a:r>
              <a:rPr lang="en-US" sz="5500" b="1" spc="-2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
</a:t>
            </a:r>
            <a:r>
              <a:rPr lang="en-US" sz="5500" b="1" spc="-2" kern="0" dirty="0">
                <a:solidFill>
                  <a:srgbClr val="EE6C5B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fonte de verdade.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457200" y="3236119"/>
            <a:ext cx="26431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Problema concreto.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3482578"/>
            <a:ext cx="26431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Três sintomas nomeados.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250406" y="3236119"/>
            <a:ext cx="26431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Caminhos comparados.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50406" y="3482578"/>
            <a:ext cx="26431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Uma escolha justificada.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043613" y="3236119"/>
            <a:ext cx="26431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ECD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Protótipo testado.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43613" y="3482578"/>
            <a:ext cx="26431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Seis peças, cinco funções.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7143750" y="4664869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11 / 12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28750"/>
            <a:ext cx="8229600" cy="11958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9650" b="1" spc="-5" kern="0" dirty="0">
                <a:solidFill>
                  <a:srgbClr val="F1ECDE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Obrigado.</a:t>
            </a:r>
            <a:endParaRPr lang="en-US" sz="9650" dirty="0"/>
          </a:p>
        </p:txBody>
      </p:sp>
      <p:sp>
        <p:nvSpPr>
          <p:cNvPr id="4" name="Text 1"/>
          <p:cNvSpPr/>
          <p:nvPr/>
        </p:nvSpPr>
        <p:spPr>
          <a:xfrm>
            <a:off x="457200" y="3043238"/>
            <a:ext cx="5236369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C2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Pronto para perguntas, dúvidas e revisões.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200" y="3950494"/>
            <a:ext cx="5236369" cy="143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6F8A9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Adaptado de Nishanthan (2021) e Tee &amp; Abdullah (2025).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5900738" y="4043363"/>
            <a:ext cx="2857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C9C2B2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ITMCL · Trabalho académico · Defesa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143750" y="4664869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spc="2" kern="0" dirty="0">
                <a:solidFill>
                  <a:srgbClr val="6F8A95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12 / 12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2026-10-19T16:10:47Z</dcterms:created>
  <dcterms:modified xsi:type="dcterms:W3CDTF">2026-10-19T16:10:47Z</dcterms:modified>
</cp:coreProperties>
</file>